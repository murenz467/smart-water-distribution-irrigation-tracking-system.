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59" r:id="rId6"/>
    <p:sldId id="260" r:id="rId7"/>
    <p:sldId id="267" r:id="rId8"/>
    <p:sldId id="261" r:id="rId9"/>
    <p:sldId id="262" r:id="rId10"/>
    <p:sldId id="263" r:id="rId11"/>
    <p:sldId id="268" r:id="rId12"/>
    <p:sldId id="264" r:id="rId13"/>
    <p:sldId id="265" r:id="rId14"/>
  </p:sldIdLst>
  <p:sldSz cx="18288000" cy="10287000"/>
  <p:notesSz cx="6858000" cy="9144000"/>
  <p:embeddedFontLst>
    <p:embeddedFont>
      <p:font typeface="Fredoka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Nunito Sans" panose="020B0604020202020204" charset="0"/>
      <p:regular r:id="rId21"/>
    </p:embeddedFont>
    <p:embeddedFont>
      <p:font typeface="Nunito San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12" autoAdjust="0"/>
    <p:restoredTop sz="94622" autoAdjust="0"/>
  </p:normalViewPr>
  <p:slideViewPr>
    <p:cSldViewPr>
      <p:cViewPr varScale="1">
        <p:scale>
          <a:sx n="56" d="100"/>
          <a:sy n="56" d="100"/>
        </p:scale>
        <p:origin x="26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FA390-8E79-4DBE-ACF3-503C90FDFC45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7C043-D9A6-4E0E-A07D-A2203F2B4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37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E7C043-D9A6-4E0E-A07D-A2203F2B4E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46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sv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10" Type="http://schemas.openxmlformats.org/officeDocument/2006/relationships/image" Target="../media/image12.svg"/><Relationship Id="rId4" Type="http://schemas.openxmlformats.org/officeDocument/2006/relationships/image" Target="../media/image8.sv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4.svg"/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12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4.svg"/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12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4.svg"/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12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4.svg"/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12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4.svg"/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12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2607" y="171450"/>
            <a:ext cx="11482787" cy="398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>
                <a:solidFill>
                  <a:srgbClr val="095888"/>
                </a:solidFill>
                <a:latin typeface="Fredoka"/>
                <a:ea typeface="Fredoka"/>
                <a:cs typeface="Fredoka"/>
                <a:sym typeface="Fredoka"/>
              </a:rPr>
              <a:t>Smart Water Distribution &amp; Irrigation Management System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1593600" y="4568903"/>
            <a:ext cx="11331400" cy="7849570"/>
          </a:xfrm>
          <a:custGeom>
            <a:avLst/>
            <a:gdLst/>
            <a:ahLst/>
            <a:cxnLst/>
            <a:rect l="l" t="t" r="r" b="b"/>
            <a:pathLst>
              <a:path w="11331400" h="7849570">
                <a:moveTo>
                  <a:pt x="11331400" y="0"/>
                </a:moveTo>
                <a:lnTo>
                  <a:pt x="0" y="0"/>
                </a:lnTo>
                <a:lnTo>
                  <a:pt x="0" y="7849571"/>
                </a:lnTo>
                <a:lnTo>
                  <a:pt x="11331400" y="7849571"/>
                </a:lnTo>
                <a:lnTo>
                  <a:pt x="11331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346158" y="4072689"/>
            <a:ext cx="11094013" cy="6958972"/>
          </a:xfrm>
          <a:custGeom>
            <a:avLst/>
            <a:gdLst/>
            <a:ahLst/>
            <a:cxnLst/>
            <a:rect l="l" t="t" r="r" b="b"/>
            <a:pathLst>
              <a:path w="11094013" h="6958972">
                <a:moveTo>
                  <a:pt x="0" y="0"/>
                </a:moveTo>
                <a:lnTo>
                  <a:pt x="11094014" y="0"/>
                </a:lnTo>
                <a:lnTo>
                  <a:pt x="11094014" y="6958973"/>
                </a:lnTo>
                <a:lnTo>
                  <a:pt x="0" y="6958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58699" y="-42111"/>
            <a:ext cx="4794788" cy="4114800"/>
          </a:xfrm>
          <a:custGeom>
            <a:avLst/>
            <a:gdLst/>
            <a:ahLst/>
            <a:cxnLst/>
            <a:rect l="l" t="t" r="r" b="b"/>
            <a:pathLst>
              <a:path w="4794788" h="4114800">
                <a:moveTo>
                  <a:pt x="0" y="0"/>
                </a:moveTo>
                <a:lnTo>
                  <a:pt x="4794788" y="0"/>
                </a:lnTo>
                <a:lnTo>
                  <a:pt x="47947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26920" y="-262689"/>
            <a:ext cx="4794788" cy="4114800"/>
          </a:xfrm>
          <a:custGeom>
            <a:avLst/>
            <a:gdLst/>
            <a:ahLst/>
            <a:cxnLst/>
            <a:rect l="l" t="t" r="r" b="b"/>
            <a:pathLst>
              <a:path w="4794788" h="4114800">
                <a:moveTo>
                  <a:pt x="0" y="0"/>
                </a:moveTo>
                <a:lnTo>
                  <a:pt x="4794788" y="0"/>
                </a:lnTo>
                <a:lnTo>
                  <a:pt x="47947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67818" y="4398647"/>
            <a:ext cx="9050142" cy="409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8"/>
              </a:lnSpc>
            </a:pPr>
            <a:r>
              <a:rPr lang="en-US" sz="2842" b="1" spc="31">
                <a:solidFill>
                  <a:srgbClr val="095888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Course: Database Development with PL/SQL (INSY 8311)</a:t>
            </a:r>
          </a:p>
          <a:p>
            <a:pPr algn="ctr">
              <a:lnSpc>
                <a:spcPts val="3978"/>
              </a:lnSpc>
            </a:pPr>
            <a:r>
              <a:rPr lang="en-US" sz="2842" b="1" spc="31">
                <a:solidFill>
                  <a:srgbClr val="095888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Student Name: Charles Murenzi</a:t>
            </a:r>
          </a:p>
          <a:p>
            <a:pPr algn="ctr">
              <a:lnSpc>
                <a:spcPts val="3978"/>
              </a:lnSpc>
            </a:pPr>
            <a:r>
              <a:rPr lang="en-US" sz="2842" b="1" spc="31">
                <a:solidFill>
                  <a:srgbClr val="095888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Student ID: 27386</a:t>
            </a:r>
          </a:p>
          <a:p>
            <a:pPr algn="ctr">
              <a:lnSpc>
                <a:spcPts val="3978"/>
              </a:lnSpc>
            </a:pPr>
            <a:r>
              <a:rPr lang="en-US" sz="2842" b="1" spc="31">
                <a:solidFill>
                  <a:srgbClr val="095888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Institution: Adventist University of Central Africa (AUCA)</a:t>
            </a:r>
          </a:p>
          <a:p>
            <a:pPr algn="ctr">
              <a:lnSpc>
                <a:spcPts val="3978"/>
              </a:lnSpc>
            </a:pPr>
            <a:r>
              <a:rPr lang="en-US" sz="2842" b="1" spc="31">
                <a:solidFill>
                  <a:srgbClr val="095888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Lecturer: Mr. Eric Maniraguha</a:t>
            </a:r>
          </a:p>
          <a:p>
            <a:pPr algn="ctr">
              <a:lnSpc>
                <a:spcPts val="3978"/>
              </a:lnSpc>
            </a:pPr>
            <a:r>
              <a:rPr lang="en-US" sz="2842" b="1" spc="31">
                <a:solidFill>
                  <a:srgbClr val="095888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Academic Year: 2025–2026</a:t>
            </a:r>
          </a:p>
          <a:p>
            <a:pPr algn="ctr">
              <a:lnSpc>
                <a:spcPts val="719"/>
              </a:lnSpc>
            </a:pPr>
            <a:endParaRPr lang="en-US" sz="2842" b="1" spc="31">
              <a:solidFill>
                <a:srgbClr val="095888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39731" y="3146351"/>
            <a:ext cx="8218132" cy="543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8"/>
              </a:lnSpc>
            </a:pPr>
            <a:r>
              <a:rPr lang="en-US" sz="2798" b="1" spc="3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System Scope:**</a:t>
            </a:r>
          </a:p>
          <a:p>
            <a:pPr algn="ctr">
              <a:lnSpc>
                <a:spcPts val="3918"/>
              </a:lnSpc>
            </a:pPr>
            <a:endParaRPr lang="en-US" sz="2798" b="1" spc="30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ctr">
              <a:lnSpc>
                <a:spcPts val="3918"/>
              </a:lnSpc>
            </a:pPr>
            <a:r>
              <a:rPr lang="en-US" sz="2798" b="1" spc="3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Districts, sectors, irrigation zones</a:t>
            </a:r>
          </a:p>
          <a:p>
            <a:pPr algn="ctr">
              <a:lnSpc>
                <a:spcPts val="3918"/>
              </a:lnSpc>
            </a:pPr>
            <a:r>
              <a:rPr lang="en-US" sz="2798" b="1" spc="3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Automated validation and auditing</a:t>
            </a:r>
          </a:p>
          <a:p>
            <a:pPr algn="ctr">
              <a:lnSpc>
                <a:spcPts val="3918"/>
              </a:lnSpc>
            </a:pPr>
            <a:r>
              <a:rPr lang="en-US" sz="2798" b="1" spc="3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BI-ready data for analytics</a:t>
            </a:r>
          </a:p>
          <a:p>
            <a:pPr algn="ctr">
              <a:lnSpc>
                <a:spcPts val="3918"/>
              </a:lnSpc>
            </a:pPr>
            <a:endParaRPr lang="en-US" sz="2798" b="1" spc="30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ctr">
              <a:lnSpc>
                <a:spcPts val="3918"/>
              </a:lnSpc>
            </a:pPr>
            <a:r>
              <a:rPr lang="en-US" sz="2798" b="1" spc="3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**Expected Outcomes:**</a:t>
            </a:r>
          </a:p>
          <a:p>
            <a:pPr algn="ctr">
              <a:lnSpc>
                <a:spcPts val="3918"/>
              </a:lnSpc>
            </a:pPr>
            <a:endParaRPr lang="en-US" sz="2798" b="1" spc="30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ctr">
              <a:lnSpc>
                <a:spcPts val="3918"/>
              </a:lnSpc>
            </a:pPr>
            <a:r>
              <a:rPr lang="en-US" sz="2798" b="1" spc="3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Accurate consumption tracking</a:t>
            </a:r>
          </a:p>
          <a:p>
            <a:pPr algn="ctr">
              <a:lnSpc>
                <a:spcPts val="3918"/>
              </a:lnSpc>
            </a:pPr>
            <a:r>
              <a:rPr lang="en-US" sz="2798" b="1" spc="3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Enforced business rules</a:t>
            </a:r>
          </a:p>
          <a:p>
            <a:pPr algn="ctr">
              <a:lnSpc>
                <a:spcPts val="3918"/>
              </a:lnSpc>
            </a:pPr>
            <a:r>
              <a:rPr lang="en-US" sz="2798" b="1" spc="3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Improved operational efficiency</a:t>
            </a:r>
          </a:p>
        </p:txBody>
      </p:sp>
      <p:sp>
        <p:nvSpPr>
          <p:cNvPr id="3" name="Freeform 3"/>
          <p:cNvSpPr/>
          <p:nvPr/>
        </p:nvSpPr>
        <p:spPr>
          <a:xfrm rot="-1199172">
            <a:off x="15593387" y="-288619"/>
            <a:ext cx="3852949" cy="4114800"/>
          </a:xfrm>
          <a:custGeom>
            <a:avLst/>
            <a:gdLst/>
            <a:ahLst/>
            <a:cxnLst/>
            <a:rect l="l" t="t" r="r" b="b"/>
            <a:pathLst>
              <a:path w="3852949" h="4114800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822410" y="5892152"/>
            <a:ext cx="8612708" cy="5966257"/>
          </a:xfrm>
          <a:custGeom>
            <a:avLst/>
            <a:gdLst/>
            <a:ahLst/>
            <a:cxnLst/>
            <a:rect l="l" t="t" r="r" b="b"/>
            <a:pathLst>
              <a:path w="8612708" h="5966257">
                <a:moveTo>
                  <a:pt x="0" y="0"/>
                </a:moveTo>
                <a:lnTo>
                  <a:pt x="8612708" y="0"/>
                </a:lnTo>
                <a:lnTo>
                  <a:pt x="8612708" y="5966258"/>
                </a:lnTo>
                <a:lnTo>
                  <a:pt x="0" y="5966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184193" y="-823169"/>
            <a:ext cx="4425786" cy="4136098"/>
          </a:xfrm>
          <a:custGeom>
            <a:avLst/>
            <a:gdLst/>
            <a:ahLst/>
            <a:cxnLst/>
            <a:rect l="l" t="t" r="r" b="b"/>
            <a:pathLst>
              <a:path w="4425786" h="4136098">
                <a:moveTo>
                  <a:pt x="0" y="0"/>
                </a:moveTo>
                <a:lnTo>
                  <a:pt x="4425786" y="0"/>
                </a:lnTo>
                <a:lnTo>
                  <a:pt x="4425786" y="4136097"/>
                </a:lnTo>
                <a:lnTo>
                  <a:pt x="0" y="4136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984954" y="-644051"/>
            <a:ext cx="2355506" cy="2715992"/>
          </a:xfrm>
          <a:custGeom>
            <a:avLst/>
            <a:gdLst/>
            <a:ahLst/>
            <a:cxnLst/>
            <a:rect l="l" t="t" r="r" b="b"/>
            <a:pathLst>
              <a:path w="2355506" h="2715992">
                <a:moveTo>
                  <a:pt x="0" y="0"/>
                </a:moveTo>
                <a:lnTo>
                  <a:pt x="2355506" y="0"/>
                </a:lnTo>
                <a:lnTo>
                  <a:pt x="2355506" y="2715992"/>
                </a:lnTo>
                <a:lnTo>
                  <a:pt x="0" y="27159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59920" y="713945"/>
            <a:ext cx="1177753" cy="1357996"/>
          </a:xfrm>
          <a:custGeom>
            <a:avLst/>
            <a:gdLst/>
            <a:ahLst/>
            <a:cxnLst/>
            <a:rect l="l" t="t" r="r" b="b"/>
            <a:pathLst>
              <a:path w="1177753" h="1357996">
                <a:moveTo>
                  <a:pt x="0" y="0"/>
                </a:moveTo>
                <a:lnTo>
                  <a:pt x="1177753" y="0"/>
                </a:lnTo>
                <a:lnTo>
                  <a:pt x="1177753" y="1357996"/>
                </a:lnTo>
                <a:lnTo>
                  <a:pt x="0" y="1357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94315" y="7852758"/>
            <a:ext cx="2893685" cy="2434242"/>
          </a:xfrm>
          <a:custGeom>
            <a:avLst/>
            <a:gdLst/>
            <a:ahLst/>
            <a:cxnLst/>
            <a:rect l="l" t="t" r="r" b="b"/>
            <a:pathLst>
              <a:path w="2893685" h="2434242">
                <a:moveTo>
                  <a:pt x="0" y="0"/>
                </a:moveTo>
                <a:lnTo>
                  <a:pt x="2893685" y="0"/>
                </a:lnTo>
                <a:lnTo>
                  <a:pt x="2893685" y="2434242"/>
                </a:lnTo>
                <a:lnTo>
                  <a:pt x="0" y="24342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1999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871030" y="347942"/>
            <a:ext cx="6545941" cy="172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5888"/>
                </a:solidFill>
                <a:latin typeface="Fredoka"/>
                <a:ea typeface="Fredoka"/>
                <a:cs typeface="Fredoka"/>
                <a:sym typeface="Fredoka"/>
              </a:rPr>
              <a:t>Project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5180" y="3146351"/>
            <a:ext cx="9735053" cy="5049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**Objective:**</a:t>
            </a:r>
          </a:p>
          <a:p>
            <a:pPr algn="ctr">
              <a:lnSpc>
                <a:spcPts val="3439"/>
              </a:lnSpc>
            </a:pPr>
            <a:r>
              <a:rPr lang="en-US" sz="2456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To design and implement an automated system for tracking water consumption and irrigation activities using Oracle PL/SQL.</a:t>
            </a:r>
          </a:p>
          <a:p>
            <a:pPr algn="ctr">
              <a:lnSpc>
                <a:spcPts val="3439"/>
              </a:lnSpc>
            </a:pPr>
            <a:endParaRPr lang="en-US" sz="2456" b="1" spc="27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ctr">
              <a:lnSpc>
                <a:spcPts val="3439"/>
              </a:lnSpc>
            </a:pPr>
            <a:r>
              <a:rPr lang="en-US" sz="2456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**Problem Addressed:**</a:t>
            </a:r>
          </a:p>
          <a:p>
            <a:pPr algn="ctr">
              <a:lnSpc>
                <a:spcPts val="3439"/>
              </a:lnSpc>
            </a:pPr>
            <a:endParaRPr lang="en-US" sz="2456" b="1" spc="27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ctr">
              <a:lnSpc>
                <a:spcPts val="3439"/>
              </a:lnSpc>
            </a:pPr>
            <a:r>
              <a:rPr lang="en-US" sz="2456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Manual water tracking causes errors and delays</a:t>
            </a:r>
          </a:p>
          <a:p>
            <a:pPr algn="ctr">
              <a:lnSpc>
                <a:spcPts val="3439"/>
              </a:lnSpc>
            </a:pPr>
            <a:r>
              <a:rPr lang="en-US" sz="2456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Lack of real-time reporting</a:t>
            </a:r>
          </a:p>
          <a:p>
            <a:pPr algn="ctr">
              <a:lnSpc>
                <a:spcPts val="3439"/>
              </a:lnSpc>
            </a:pPr>
            <a:r>
              <a:rPr lang="en-US" sz="2456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Poor auditability and decision-making challenges</a:t>
            </a:r>
          </a:p>
          <a:p>
            <a:pPr algn="ctr">
              <a:lnSpc>
                <a:spcPts val="3439"/>
              </a:lnSpc>
            </a:pPr>
            <a:endParaRPr lang="en-US" sz="2456" b="1" spc="27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ctr">
              <a:lnSpc>
                <a:spcPts val="3439"/>
              </a:lnSpc>
            </a:pPr>
            <a:endParaRPr lang="en-US" sz="2456" b="1" spc="27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41593" y="837770"/>
            <a:ext cx="13528157" cy="77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891">
                <a:solidFill>
                  <a:srgbClr val="095888"/>
                </a:solidFill>
                <a:latin typeface="Fredoka"/>
                <a:ea typeface="Fredoka"/>
                <a:cs typeface="Fredoka"/>
                <a:sym typeface="Fredoka"/>
              </a:rPr>
              <a:t>Business Process Modeling (BPMN)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92157" y="3009811"/>
            <a:ext cx="7292142" cy="353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7"/>
              </a:lnSpc>
            </a:pPr>
            <a:endParaRPr/>
          </a:p>
          <a:p>
            <a:pPr algn="l">
              <a:lnSpc>
                <a:spcPts val="2807"/>
              </a:lnSpc>
            </a:pPr>
            <a:r>
              <a:rPr lang="en-US" sz="2005" b="1" spc="22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**Purpose:**</a:t>
            </a:r>
          </a:p>
          <a:p>
            <a:pPr algn="l">
              <a:lnSpc>
                <a:spcPts val="2807"/>
              </a:lnSpc>
            </a:pPr>
            <a:r>
              <a:rPr lang="en-US" sz="2005" b="1" spc="22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To visually model how water consumption data flows through the system.</a:t>
            </a:r>
          </a:p>
          <a:p>
            <a:pPr algn="l">
              <a:lnSpc>
                <a:spcPts val="2807"/>
              </a:lnSpc>
            </a:pPr>
            <a:endParaRPr lang="en-US" sz="2005" b="1" spc="22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l">
              <a:lnSpc>
                <a:spcPts val="2807"/>
              </a:lnSpc>
            </a:pPr>
            <a:r>
              <a:rPr lang="en-US" sz="2005" b="1" spc="22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**Key Actors:**</a:t>
            </a:r>
          </a:p>
          <a:p>
            <a:pPr algn="l">
              <a:lnSpc>
                <a:spcPts val="2807"/>
              </a:lnSpc>
            </a:pPr>
            <a:r>
              <a:rPr lang="en-US" sz="2005" b="1" spc="22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Water Meter Administrator</a:t>
            </a:r>
          </a:p>
          <a:p>
            <a:pPr algn="l">
              <a:lnSpc>
                <a:spcPts val="2807"/>
              </a:lnSpc>
            </a:pPr>
            <a:r>
              <a:rPr lang="en-US" sz="2005" b="1" spc="22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Field Technician / Employee</a:t>
            </a:r>
          </a:p>
          <a:p>
            <a:pPr algn="l">
              <a:lnSpc>
                <a:spcPts val="2807"/>
              </a:lnSpc>
            </a:pPr>
            <a:r>
              <a:rPr lang="en-US" sz="2005" b="1" spc="22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System / Database</a:t>
            </a:r>
          </a:p>
          <a:p>
            <a:pPr algn="l">
              <a:lnSpc>
                <a:spcPts val="2807"/>
              </a:lnSpc>
            </a:pPr>
            <a:r>
              <a:rPr lang="en-US" sz="2005" b="1" spc="22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Auditor / Manager</a:t>
            </a:r>
          </a:p>
        </p:txBody>
      </p:sp>
      <p:sp>
        <p:nvSpPr>
          <p:cNvPr id="4" name="Freeform 4"/>
          <p:cNvSpPr/>
          <p:nvPr/>
        </p:nvSpPr>
        <p:spPr>
          <a:xfrm rot="-1199172">
            <a:off x="14843275" y="5678050"/>
            <a:ext cx="3852949" cy="4114800"/>
          </a:xfrm>
          <a:custGeom>
            <a:avLst/>
            <a:gdLst/>
            <a:ahLst/>
            <a:cxnLst/>
            <a:rect l="l" t="t" r="r" b="b"/>
            <a:pathLst>
              <a:path w="3852949" h="4114800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822410" y="5892152"/>
            <a:ext cx="8612708" cy="5966257"/>
          </a:xfrm>
          <a:custGeom>
            <a:avLst/>
            <a:gdLst/>
            <a:ahLst/>
            <a:cxnLst/>
            <a:rect l="l" t="t" r="r" b="b"/>
            <a:pathLst>
              <a:path w="8612708" h="5966257">
                <a:moveTo>
                  <a:pt x="0" y="0"/>
                </a:moveTo>
                <a:lnTo>
                  <a:pt x="8612708" y="0"/>
                </a:lnTo>
                <a:lnTo>
                  <a:pt x="8612708" y="5966258"/>
                </a:lnTo>
                <a:lnTo>
                  <a:pt x="0" y="5966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184193" y="-823169"/>
            <a:ext cx="4425786" cy="4136098"/>
          </a:xfrm>
          <a:custGeom>
            <a:avLst/>
            <a:gdLst/>
            <a:ahLst/>
            <a:cxnLst/>
            <a:rect l="l" t="t" r="r" b="b"/>
            <a:pathLst>
              <a:path w="4425786" h="4136098">
                <a:moveTo>
                  <a:pt x="0" y="0"/>
                </a:moveTo>
                <a:lnTo>
                  <a:pt x="4425786" y="0"/>
                </a:lnTo>
                <a:lnTo>
                  <a:pt x="4425786" y="4136097"/>
                </a:lnTo>
                <a:lnTo>
                  <a:pt x="0" y="41360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180873" y="2697713"/>
            <a:ext cx="1177753" cy="1357996"/>
          </a:xfrm>
          <a:custGeom>
            <a:avLst/>
            <a:gdLst/>
            <a:ahLst/>
            <a:cxnLst/>
            <a:rect l="l" t="t" r="r" b="b"/>
            <a:pathLst>
              <a:path w="1177753" h="1357996">
                <a:moveTo>
                  <a:pt x="0" y="0"/>
                </a:moveTo>
                <a:lnTo>
                  <a:pt x="1177753" y="0"/>
                </a:lnTo>
                <a:lnTo>
                  <a:pt x="1177753" y="1357996"/>
                </a:lnTo>
                <a:lnTo>
                  <a:pt x="0" y="13579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1999"/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84300" y="3009811"/>
            <a:ext cx="11012761" cy="422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9"/>
              </a:lnSpc>
            </a:pPr>
            <a:r>
              <a:rPr lang="en-US" sz="2392" b="1" spc="26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**Main Process Flow:**</a:t>
            </a:r>
          </a:p>
          <a:p>
            <a:pPr algn="l">
              <a:lnSpc>
                <a:spcPts val="3349"/>
              </a:lnSpc>
            </a:pPr>
            <a:endParaRPr lang="en-US" sz="2392" b="1" spc="26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l">
              <a:lnSpc>
                <a:spcPts val="3349"/>
              </a:lnSpc>
            </a:pPr>
            <a:r>
              <a:rPr lang="en-US" sz="2392" b="1" spc="26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Record water consumption</a:t>
            </a:r>
          </a:p>
          <a:p>
            <a:pPr algn="l">
              <a:lnSpc>
                <a:spcPts val="3349"/>
              </a:lnSpc>
            </a:pPr>
            <a:r>
              <a:rPr lang="en-US" sz="2392" b="1" spc="26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Validate meter and date rules</a:t>
            </a:r>
          </a:p>
          <a:p>
            <a:pPr algn="l">
              <a:lnSpc>
                <a:spcPts val="3349"/>
              </a:lnSpc>
            </a:pPr>
            <a:r>
              <a:rPr lang="en-US" sz="2392" b="1" spc="26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Store data securely</a:t>
            </a:r>
          </a:p>
          <a:p>
            <a:pPr algn="l">
              <a:lnSpc>
                <a:spcPts val="3349"/>
              </a:lnSpc>
            </a:pPr>
            <a:r>
              <a:rPr lang="en-US" sz="2392" b="1" spc="26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Log all actions</a:t>
            </a:r>
          </a:p>
          <a:p>
            <a:pPr algn="l">
              <a:lnSpc>
                <a:spcPts val="3349"/>
              </a:lnSpc>
            </a:pPr>
            <a:r>
              <a:rPr lang="en-US" sz="2392" b="1" spc="26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Update dashboards</a:t>
            </a:r>
          </a:p>
          <a:p>
            <a:pPr algn="l">
              <a:lnSpc>
                <a:spcPts val="3349"/>
              </a:lnSpc>
            </a:pPr>
            <a:r>
              <a:rPr lang="en-US" sz="2392" b="1" spc="26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*Benefit:**</a:t>
            </a:r>
          </a:p>
          <a:p>
            <a:pPr algn="l">
              <a:lnSpc>
                <a:spcPts val="3349"/>
              </a:lnSpc>
            </a:pPr>
            <a:r>
              <a:rPr lang="en-US" sz="2392" b="1" spc="26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Ensures clarity, accountability, </a:t>
            </a:r>
          </a:p>
          <a:p>
            <a:pPr algn="l">
              <a:lnSpc>
                <a:spcPts val="3349"/>
              </a:lnSpc>
            </a:pPr>
            <a:r>
              <a:rPr lang="en-US" sz="2392" b="1" spc="26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standardized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700"/>
            <a:ext cx="17297400" cy="1031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3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5241" y="1185084"/>
            <a:ext cx="10517519" cy="88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5888"/>
                </a:solidFill>
                <a:latin typeface="Fredoka"/>
                <a:ea typeface="Fredoka"/>
                <a:cs typeface="Fredoka"/>
                <a:sym typeface="Fredoka"/>
              </a:rPr>
              <a:t>Database Creation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42645" y="3630099"/>
            <a:ext cx="5501355" cy="408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9"/>
              </a:lnSpc>
            </a:pPr>
            <a:r>
              <a:rPr lang="en-US" sz="2885" b="1" spc="31" dirty="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Database Environment:</a:t>
            </a:r>
          </a:p>
          <a:p>
            <a:pPr algn="l">
              <a:lnSpc>
                <a:spcPts val="4039"/>
              </a:lnSpc>
            </a:pPr>
            <a:endParaRPr lang="en-US" sz="2885" b="1" spc="31" dirty="0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>
              <a:lnSpc>
                <a:spcPts val="4039"/>
              </a:lnSpc>
            </a:pPr>
            <a:r>
              <a:rPr lang="en-US" sz="2885" b="1" spc="31" dirty="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Oracle Database 21c XE</a:t>
            </a:r>
          </a:p>
          <a:p>
            <a:pPr algn="l">
              <a:lnSpc>
                <a:spcPts val="4039"/>
              </a:lnSpc>
            </a:pPr>
            <a:r>
              <a:rPr lang="en-US" sz="2885" b="1" spc="31" dirty="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 Pluggable Database (PDB)</a:t>
            </a:r>
          </a:p>
          <a:p>
            <a:pPr algn="l">
              <a:lnSpc>
                <a:spcPts val="4039"/>
              </a:lnSpc>
            </a:pPr>
            <a:endParaRPr lang="en-US" sz="2885" b="1" spc="31" dirty="0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>
              <a:lnSpc>
                <a:spcPts val="4039"/>
              </a:lnSpc>
            </a:pPr>
            <a:endParaRPr lang="en-US" sz="2885" b="1" spc="31" dirty="0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>
              <a:lnSpc>
                <a:spcPts val="4039"/>
              </a:lnSpc>
            </a:pPr>
            <a:endParaRPr lang="en-US" sz="2885" b="1" spc="31" dirty="0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>
              <a:lnSpc>
                <a:spcPts val="4039"/>
              </a:lnSpc>
            </a:pPr>
            <a:endParaRPr lang="en-US" sz="2885" b="1" spc="31" dirty="0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" name="Freeform 4"/>
          <p:cNvSpPr/>
          <p:nvPr/>
        </p:nvSpPr>
        <p:spPr>
          <a:xfrm rot="-1199172">
            <a:off x="15593387" y="-288619"/>
            <a:ext cx="3852949" cy="4114800"/>
          </a:xfrm>
          <a:custGeom>
            <a:avLst/>
            <a:gdLst/>
            <a:ahLst/>
            <a:cxnLst/>
            <a:rect l="l" t="t" r="r" b="b"/>
            <a:pathLst>
              <a:path w="3852949" h="4114800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89357" y="5143500"/>
            <a:ext cx="8638215" cy="5418517"/>
          </a:xfrm>
          <a:custGeom>
            <a:avLst/>
            <a:gdLst/>
            <a:ahLst/>
            <a:cxnLst/>
            <a:rect l="l" t="t" r="r" b="b"/>
            <a:pathLst>
              <a:path w="8638215" h="5418517">
                <a:moveTo>
                  <a:pt x="0" y="0"/>
                </a:moveTo>
                <a:lnTo>
                  <a:pt x="8638215" y="0"/>
                </a:lnTo>
                <a:lnTo>
                  <a:pt x="8638215" y="5418517"/>
                </a:lnTo>
                <a:lnTo>
                  <a:pt x="0" y="5418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822410" y="5892152"/>
            <a:ext cx="8612708" cy="5966257"/>
          </a:xfrm>
          <a:custGeom>
            <a:avLst/>
            <a:gdLst/>
            <a:ahLst/>
            <a:cxnLst/>
            <a:rect l="l" t="t" r="r" b="b"/>
            <a:pathLst>
              <a:path w="8612708" h="5966257">
                <a:moveTo>
                  <a:pt x="0" y="0"/>
                </a:moveTo>
                <a:lnTo>
                  <a:pt x="8612708" y="0"/>
                </a:lnTo>
                <a:lnTo>
                  <a:pt x="8612708" y="5966258"/>
                </a:lnTo>
                <a:lnTo>
                  <a:pt x="0" y="5966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84193" y="-823169"/>
            <a:ext cx="4425786" cy="4136098"/>
          </a:xfrm>
          <a:custGeom>
            <a:avLst/>
            <a:gdLst/>
            <a:ahLst/>
            <a:cxnLst/>
            <a:rect l="l" t="t" r="r" b="b"/>
            <a:pathLst>
              <a:path w="4425786" h="4136098">
                <a:moveTo>
                  <a:pt x="0" y="0"/>
                </a:moveTo>
                <a:lnTo>
                  <a:pt x="4425786" y="0"/>
                </a:lnTo>
                <a:lnTo>
                  <a:pt x="4425786" y="4136097"/>
                </a:lnTo>
                <a:lnTo>
                  <a:pt x="0" y="4136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984954" y="-644051"/>
            <a:ext cx="2355506" cy="2715992"/>
          </a:xfrm>
          <a:custGeom>
            <a:avLst/>
            <a:gdLst/>
            <a:ahLst/>
            <a:cxnLst/>
            <a:rect l="l" t="t" r="r" b="b"/>
            <a:pathLst>
              <a:path w="2355506" h="2715992">
                <a:moveTo>
                  <a:pt x="0" y="0"/>
                </a:moveTo>
                <a:lnTo>
                  <a:pt x="2355506" y="0"/>
                </a:lnTo>
                <a:lnTo>
                  <a:pt x="2355506" y="2715992"/>
                </a:lnTo>
                <a:lnTo>
                  <a:pt x="0" y="2715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2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159920" y="713945"/>
            <a:ext cx="1177753" cy="1357996"/>
          </a:xfrm>
          <a:custGeom>
            <a:avLst/>
            <a:gdLst/>
            <a:ahLst/>
            <a:cxnLst/>
            <a:rect l="l" t="t" r="r" b="b"/>
            <a:pathLst>
              <a:path w="1177753" h="1357996">
                <a:moveTo>
                  <a:pt x="0" y="0"/>
                </a:moveTo>
                <a:lnTo>
                  <a:pt x="1177753" y="0"/>
                </a:lnTo>
                <a:lnTo>
                  <a:pt x="1177753" y="1357996"/>
                </a:lnTo>
                <a:lnTo>
                  <a:pt x="0" y="13579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1999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206829" y="7549164"/>
            <a:ext cx="4571693" cy="3845826"/>
          </a:xfrm>
          <a:custGeom>
            <a:avLst/>
            <a:gdLst/>
            <a:ahLst/>
            <a:cxnLst/>
            <a:rect l="l" t="t" r="r" b="b"/>
            <a:pathLst>
              <a:path w="4571693" h="3845826">
                <a:moveTo>
                  <a:pt x="0" y="0"/>
                </a:moveTo>
                <a:lnTo>
                  <a:pt x="4571693" y="0"/>
                </a:lnTo>
                <a:lnTo>
                  <a:pt x="4571693" y="3845826"/>
                </a:lnTo>
                <a:lnTo>
                  <a:pt x="0" y="38458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1999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850940" y="2974316"/>
            <a:ext cx="4888955" cy="493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90" b="1" spc="27" dirty="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 PDB Name: `Thur_27386_charles_SWIT_DB</a:t>
            </a:r>
          </a:p>
          <a:p>
            <a:pPr algn="l">
              <a:lnSpc>
                <a:spcPts val="3486"/>
              </a:lnSpc>
            </a:pPr>
            <a:r>
              <a:rPr lang="en-US" sz="2490" b="1" spc="27" dirty="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* Admin User: `</a:t>
            </a:r>
            <a:r>
              <a:rPr lang="en-US" sz="2490" b="1" spc="27" dirty="0" err="1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switracker</a:t>
            </a:r>
            <a:r>
              <a:rPr lang="en-US" sz="2490" b="1" spc="27" dirty="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`</a:t>
            </a:r>
          </a:p>
          <a:p>
            <a:pPr algn="l">
              <a:lnSpc>
                <a:spcPts val="3486"/>
              </a:lnSpc>
            </a:pPr>
            <a:r>
              <a:rPr lang="en-US" sz="2490" b="1" spc="27" dirty="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* Dedicated </a:t>
            </a:r>
            <a:r>
              <a:rPr lang="en-US" sz="2490" b="1" spc="27" dirty="0" err="1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tablespaces</a:t>
            </a:r>
            <a:r>
              <a:rPr lang="en-US" sz="2490" b="1" spc="27" dirty="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 for data, indexes, and temp</a:t>
            </a:r>
          </a:p>
          <a:p>
            <a:pPr algn="l">
              <a:lnSpc>
                <a:spcPts val="3486"/>
              </a:lnSpc>
            </a:pPr>
            <a:endParaRPr lang="en-US" sz="2490" b="1" spc="27" dirty="0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>
              <a:lnSpc>
                <a:spcPts val="3486"/>
              </a:lnSpc>
            </a:pPr>
            <a:r>
              <a:rPr lang="en-US" sz="2490" b="1" spc="27" dirty="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**Outcome:**</a:t>
            </a:r>
          </a:p>
          <a:p>
            <a:pPr algn="l">
              <a:lnSpc>
                <a:spcPts val="3486"/>
              </a:lnSpc>
            </a:pPr>
            <a:r>
              <a:rPr lang="en-US" sz="2490" b="1" spc="27" dirty="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* Secure, scalable, and production-ready database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262427"/>
            <a:ext cx="6545941" cy="1808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1"/>
              </a:lnSpc>
            </a:pPr>
            <a:r>
              <a:rPr lang="en-US" sz="4846">
                <a:solidFill>
                  <a:srgbClr val="095888"/>
                </a:solidFill>
                <a:latin typeface="Fredoka"/>
                <a:ea typeface="Fredoka"/>
                <a:cs typeface="Fredoka"/>
                <a:sym typeface="Fredoka"/>
              </a:rPr>
              <a:t>Table Implementation &amp; Data Insertion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64292" y="2381920"/>
            <a:ext cx="10984955" cy="2613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683" lvl="1" indent="-268842" algn="l">
              <a:lnSpc>
                <a:spcPts val="3486"/>
              </a:lnSpc>
              <a:buFont typeface="Arial"/>
              <a:buChar char="•"/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Implementation Activities:</a:t>
            </a:r>
          </a:p>
          <a:p>
            <a:pPr marL="537683" lvl="1" indent="-268842" algn="l">
              <a:lnSpc>
                <a:spcPts val="3486"/>
              </a:lnSpc>
              <a:buFont typeface="Arial"/>
              <a:buChar char="•"/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Created all physical tables</a:t>
            </a:r>
          </a:p>
          <a:p>
            <a:pPr marL="537683" lvl="1" indent="-268842" algn="l">
              <a:lnSpc>
                <a:spcPts val="3486"/>
              </a:lnSpc>
              <a:buFont typeface="Arial"/>
              <a:buChar char="•"/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Applied constraints (PK, FK, NOT NULL, CHECK)</a:t>
            </a:r>
          </a:p>
          <a:p>
            <a:pPr marL="537683" lvl="1" indent="-268842" algn="l">
              <a:lnSpc>
                <a:spcPts val="3486"/>
              </a:lnSpc>
              <a:buFont typeface="Arial"/>
              <a:buChar char="•"/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Created indexes for performance</a:t>
            </a:r>
          </a:p>
          <a:p>
            <a:pPr marL="537683" lvl="1" indent="-268842" algn="l">
              <a:lnSpc>
                <a:spcPts val="3486"/>
              </a:lnSpc>
              <a:buFont typeface="Arial"/>
              <a:buChar char="•"/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Data Population:</a:t>
            </a:r>
          </a:p>
          <a:p>
            <a:pPr algn="l">
              <a:lnSpc>
                <a:spcPts val="3486"/>
              </a:lnSpc>
            </a:pPr>
            <a:endParaRPr lang="en-US" sz="2490" b="1" spc="27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</p:txBody>
      </p:sp>
      <p:sp>
        <p:nvSpPr>
          <p:cNvPr id="4" name="Freeform 4"/>
          <p:cNvSpPr/>
          <p:nvPr/>
        </p:nvSpPr>
        <p:spPr>
          <a:xfrm rot="-1199172">
            <a:off x="15593387" y="-288619"/>
            <a:ext cx="3852949" cy="4114800"/>
          </a:xfrm>
          <a:custGeom>
            <a:avLst/>
            <a:gdLst/>
            <a:ahLst/>
            <a:cxnLst/>
            <a:rect l="l" t="t" r="r" b="b"/>
            <a:pathLst>
              <a:path w="3852949" h="4114800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89357" y="5143500"/>
            <a:ext cx="8638215" cy="5418517"/>
          </a:xfrm>
          <a:custGeom>
            <a:avLst/>
            <a:gdLst/>
            <a:ahLst/>
            <a:cxnLst/>
            <a:rect l="l" t="t" r="r" b="b"/>
            <a:pathLst>
              <a:path w="8638215" h="5418517">
                <a:moveTo>
                  <a:pt x="0" y="0"/>
                </a:moveTo>
                <a:lnTo>
                  <a:pt x="8638215" y="0"/>
                </a:lnTo>
                <a:lnTo>
                  <a:pt x="8638215" y="5418517"/>
                </a:lnTo>
                <a:lnTo>
                  <a:pt x="0" y="5418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822410" y="5892152"/>
            <a:ext cx="8612708" cy="5966257"/>
          </a:xfrm>
          <a:custGeom>
            <a:avLst/>
            <a:gdLst/>
            <a:ahLst/>
            <a:cxnLst/>
            <a:rect l="l" t="t" r="r" b="b"/>
            <a:pathLst>
              <a:path w="8612708" h="5966257">
                <a:moveTo>
                  <a:pt x="0" y="0"/>
                </a:moveTo>
                <a:lnTo>
                  <a:pt x="8612708" y="0"/>
                </a:lnTo>
                <a:lnTo>
                  <a:pt x="8612708" y="5966258"/>
                </a:lnTo>
                <a:lnTo>
                  <a:pt x="0" y="5966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84193" y="-823169"/>
            <a:ext cx="4425786" cy="4136098"/>
          </a:xfrm>
          <a:custGeom>
            <a:avLst/>
            <a:gdLst/>
            <a:ahLst/>
            <a:cxnLst/>
            <a:rect l="l" t="t" r="r" b="b"/>
            <a:pathLst>
              <a:path w="4425786" h="4136098">
                <a:moveTo>
                  <a:pt x="0" y="0"/>
                </a:moveTo>
                <a:lnTo>
                  <a:pt x="4425786" y="0"/>
                </a:lnTo>
                <a:lnTo>
                  <a:pt x="4425786" y="4136097"/>
                </a:lnTo>
                <a:lnTo>
                  <a:pt x="0" y="4136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984954" y="-644051"/>
            <a:ext cx="2355506" cy="2715992"/>
          </a:xfrm>
          <a:custGeom>
            <a:avLst/>
            <a:gdLst/>
            <a:ahLst/>
            <a:cxnLst/>
            <a:rect l="l" t="t" r="r" b="b"/>
            <a:pathLst>
              <a:path w="2355506" h="2715992">
                <a:moveTo>
                  <a:pt x="0" y="0"/>
                </a:moveTo>
                <a:lnTo>
                  <a:pt x="2355506" y="0"/>
                </a:lnTo>
                <a:lnTo>
                  <a:pt x="2355506" y="2715992"/>
                </a:lnTo>
                <a:lnTo>
                  <a:pt x="0" y="2715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1999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159920" y="713945"/>
            <a:ext cx="1177753" cy="1357996"/>
          </a:xfrm>
          <a:custGeom>
            <a:avLst/>
            <a:gdLst/>
            <a:ahLst/>
            <a:cxnLst/>
            <a:rect l="l" t="t" r="r" b="b"/>
            <a:pathLst>
              <a:path w="1177753" h="1357996">
                <a:moveTo>
                  <a:pt x="0" y="0"/>
                </a:moveTo>
                <a:lnTo>
                  <a:pt x="1177753" y="0"/>
                </a:lnTo>
                <a:lnTo>
                  <a:pt x="1177753" y="1357996"/>
                </a:lnTo>
                <a:lnTo>
                  <a:pt x="0" y="13579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1999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206829" y="7549164"/>
            <a:ext cx="4571693" cy="3845826"/>
          </a:xfrm>
          <a:custGeom>
            <a:avLst/>
            <a:gdLst/>
            <a:ahLst/>
            <a:cxnLst/>
            <a:rect l="l" t="t" r="r" b="b"/>
            <a:pathLst>
              <a:path w="4571693" h="3845826">
                <a:moveTo>
                  <a:pt x="0" y="0"/>
                </a:moveTo>
                <a:lnTo>
                  <a:pt x="4571693" y="0"/>
                </a:lnTo>
                <a:lnTo>
                  <a:pt x="4571693" y="3845826"/>
                </a:lnTo>
                <a:lnTo>
                  <a:pt x="0" y="38458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1999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64292" y="4947563"/>
            <a:ext cx="10984955" cy="392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683" lvl="1" indent="-268842" algn="l">
              <a:lnSpc>
                <a:spcPts val="3486"/>
              </a:lnSpc>
              <a:buFont typeface="Arial"/>
              <a:buChar char="•"/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Inserted realistic test data</a:t>
            </a:r>
          </a:p>
          <a:p>
            <a:pPr marL="537683" lvl="1" indent="-268842" algn="l">
              <a:lnSpc>
                <a:spcPts val="3486"/>
              </a:lnSpc>
              <a:buFont typeface="Arial"/>
              <a:buChar char="•"/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Covered normal and edge cases</a:t>
            </a:r>
          </a:p>
          <a:p>
            <a:pPr algn="l">
              <a:lnSpc>
                <a:spcPts val="3486"/>
              </a:lnSpc>
            </a:pPr>
            <a:endParaRPr lang="en-US" sz="2490" b="1" spc="27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             Validation:</a:t>
            </a:r>
          </a:p>
          <a:p>
            <a:pPr marL="537683" lvl="1" indent="-268842" algn="l">
              <a:lnSpc>
                <a:spcPts val="3486"/>
              </a:lnSpc>
              <a:buFont typeface="Arial"/>
              <a:buChar char="•"/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Constraint enforcement tested</a:t>
            </a:r>
          </a:p>
          <a:p>
            <a:pPr marL="537683" lvl="1" indent="-268842" algn="l">
              <a:lnSpc>
                <a:spcPts val="3486"/>
              </a:lnSpc>
              <a:buFont typeface="Arial"/>
              <a:buChar char="•"/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Multi-table queries verified</a:t>
            </a:r>
          </a:p>
          <a:p>
            <a:pPr marL="537683" lvl="1" indent="-268842" algn="l">
              <a:lnSpc>
                <a:spcPts val="3486"/>
              </a:lnSpc>
              <a:buFont typeface="Arial"/>
              <a:buChar char="•"/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Result:</a:t>
            </a:r>
          </a:p>
          <a:p>
            <a:pPr marL="537683" lvl="1" indent="-268842" algn="l">
              <a:lnSpc>
                <a:spcPts val="3486"/>
              </a:lnSpc>
              <a:buFont typeface="Arial"/>
              <a:buChar char="•"/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Reliable and consistent dataset for application logic and BI.</a:t>
            </a:r>
          </a:p>
          <a:p>
            <a:pPr marL="537683" lvl="1" indent="-268842" algn="l">
              <a:lnSpc>
                <a:spcPts val="3486"/>
              </a:lnSpc>
              <a:buFont typeface="Arial"/>
              <a:buChar char="•"/>
            </a:pPr>
            <a:endParaRPr lang="en-US" sz="2490" b="1" spc="27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8265" y="0"/>
            <a:ext cx="19093605" cy="986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87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840531"/>
            <a:ext cx="6545941" cy="123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8"/>
              </a:lnSpc>
            </a:pPr>
            <a:r>
              <a:rPr lang="en-US" sz="4946">
                <a:solidFill>
                  <a:srgbClr val="095888"/>
                </a:solidFill>
                <a:latin typeface="Fredoka"/>
                <a:ea typeface="Fredoka"/>
                <a:cs typeface="Fredoka"/>
                <a:sym typeface="Fredoka"/>
              </a:rPr>
              <a:t>Database Interaction &amp; Transactions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84954" y="2060453"/>
            <a:ext cx="11686797" cy="611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L/SQL Components Implemented:</a:t>
            </a: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Functions for validation and calculations</a:t>
            </a: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Procedures for logging and transactions</a:t>
            </a: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Cursors for multi-row processing</a:t>
            </a: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Window functions for analytics</a:t>
            </a:r>
          </a:p>
          <a:p>
            <a:pPr algn="l">
              <a:lnSpc>
                <a:spcPts val="3486"/>
              </a:lnSpc>
            </a:pPr>
            <a:endParaRPr lang="en-US" sz="2490" b="1" spc="27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Package Used:</a:t>
            </a:r>
          </a:p>
          <a:p>
            <a:pPr algn="l">
              <a:lnSpc>
                <a:spcPts val="3486"/>
              </a:lnSpc>
            </a:pPr>
            <a:endParaRPr lang="en-US" sz="2490" b="1" spc="27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      switracker_pkg</a:t>
            </a: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Centralized logic and exception handling</a:t>
            </a: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              Benefit:</a:t>
            </a: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Reusable, maintainable </a:t>
            </a: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secure database logic</a:t>
            </a:r>
          </a:p>
          <a:p>
            <a:pPr algn="l">
              <a:lnSpc>
                <a:spcPts val="3486"/>
              </a:lnSpc>
            </a:pPr>
            <a:endParaRPr lang="en-US" sz="2490" b="1" spc="27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</p:txBody>
      </p:sp>
      <p:sp>
        <p:nvSpPr>
          <p:cNvPr id="4" name="Freeform 4"/>
          <p:cNvSpPr/>
          <p:nvPr/>
        </p:nvSpPr>
        <p:spPr>
          <a:xfrm rot="-1199172">
            <a:off x="15593387" y="-288619"/>
            <a:ext cx="3852949" cy="4114800"/>
          </a:xfrm>
          <a:custGeom>
            <a:avLst/>
            <a:gdLst/>
            <a:ahLst/>
            <a:cxnLst/>
            <a:rect l="l" t="t" r="r" b="b"/>
            <a:pathLst>
              <a:path w="3852949" h="4114800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89357" y="5143500"/>
            <a:ext cx="8638215" cy="5418517"/>
          </a:xfrm>
          <a:custGeom>
            <a:avLst/>
            <a:gdLst/>
            <a:ahLst/>
            <a:cxnLst/>
            <a:rect l="l" t="t" r="r" b="b"/>
            <a:pathLst>
              <a:path w="8638215" h="5418517">
                <a:moveTo>
                  <a:pt x="0" y="0"/>
                </a:moveTo>
                <a:lnTo>
                  <a:pt x="8638215" y="0"/>
                </a:lnTo>
                <a:lnTo>
                  <a:pt x="8638215" y="5418517"/>
                </a:lnTo>
                <a:lnTo>
                  <a:pt x="0" y="5418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822410" y="5892152"/>
            <a:ext cx="8612708" cy="5966257"/>
          </a:xfrm>
          <a:custGeom>
            <a:avLst/>
            <a:gdLst/>
            <a:ahLst/>
            <a:cxnLst/>
            <a:rect l="l" t="t" r="r" b="b"/>
            <a:pathLst>
              <a:path w="8612708" h="5966257">
                <a:moveTo>
                  <a:pt x="0" y="0"/>
                </a:moveTo>
                <a:lnTo>
                  <a:pt x="8612708" y="0"/>
                </a:lnTo>
                <a:lnTo>
                  <a:pt x="8612708" y="5966258"/>
                </a:lnTo>
                <a:lnTo>
                  <a:pt x="0" y="5966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84193" y="-823169"/>
            <a:ext cx="4425786" cy="4136098"/>
          </a:xfrm>
          <a:custGeom>
            <a:avLst/>
            <a:gdLst/>
            <a:ahLst/>
            <a:cxnLst/>
            <a:rect l="l" t="t" r="r" b="b"/>
            <a:pathLst>
              <a:path w="4425786" h="4136098">
                <a:moveTo>
                  <a:pt x="0" y="0"/>
                </a:moveTo>
                <a:lnTo>
                  <a:pt x="4425786" y="0"/>
                </a:lnTo>
                <a:lnTo>
                  <a:pt x="4425786" y="4136097"/>
                </a:lnTo>
                <a:lnTo>
                  <a:pt x="0" y="4136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984954" y="-644051"/>
            <a:ext cx="2355506" cy="2715992"/>
          </a:xfrm>
          <a:custGeom>
            <a:avLst/>
            <a:gdLst/>
            <a:ahLst/>
            <a:cxnLst/>
            <a:rect l="l" t="t" r="r" b="b"/>
            <a:pathLst>
              <a:path w="2355506" h="2715992">
                <a:moveTo>
                  <a:pt x="0" y="0"/>
                </a:moveTo>
                <a:lnTo>
                  <a:pt x="2355506" y="0"/>
                </a:lnTo>
                <a:lnTo>
                  <a:pt x="2355506" y="2715992"/>
                </a:lnTo>
                <a:lnTo>
                  <a:pt x="0" y="2715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1999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159920" y="713945"/>
            <a:ext cx="1177753" cy="1357996"/>
          </a:xfrm>
          <a:custGeom>
            <a:avLst/>
            <a:gdLst/>
            <a:ahLst/>
            <a:cxnLst/>
            <a:rect l="l" t="t" r="r" b="b"/>
            <a:pathLst>
              <a:path w="1177753" h="1357996">
                <a:moveTo>
                  <a:pt x="0" y="0"/>
                </a:moveTo>
                <a:lnTo>
                  <a:pt x="1177753" y="0"/>
                </a:lnTo>
                <a:lnTo>
                  <a:pt x="1177753" y="1357996"/>
                </a:lnTo>
                <a:lnTo>
                  <a:pt x="0" y="13579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1999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206829" y="7549164"/>
            <a:ext cx="4571693" cy="3845826"/>
          </a:xfrm>
          <a:custGeom>
            <a:avLst/>
            <a:gdLst/>
            <a:ahLst/>
            <a:cxnLst/>
            <a:rect l="l" t="t" r="r" b="b"/>
            <a:pathLst>
              <a:path w="4571693" h="3845826">
                <a:moveTo>
                  <a:pt x="0" y="0"/>
                </a:moveTo>
                <a:lnTo>
                  <a:pt x="4571693" y="0"/>
                </a:lnTo>
                <a:lnTo>
                  <a:pt x="4571693" y="3845826"/>
                </a:lnTo>
                <a:lnTo>
                  <a:pt x="0" y="38458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1999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26919"/>
            <a:ext cx="6545941" cy="19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9"/>
              </a:lnSpc>
            </a:pPr>
            <a:r>
              <a:rPr lang="en-US" sz="5246">
                <a:solidFill>
                  <a:srgbClr val="095888"/>
                </a:solidFill>
                <a:latin typeface="Fredoka"/>
                <a:ea typeface="Fredoka"/>
                <a:cs typeface="Fredoka"/>
                <a:sym typeface="Fredoka"/>
              </a:rPr>
              <a:t>Advanced Programming &amp; Auditing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085928" y="1730681"/>
            <a:ext cx="10116144" cy="7932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4"/>
              </a:lnSpc>
            </a:pPr>
            <a:endParaRPr dirty="0"/>
          </a:p>
          <a:p>
            <a:pPr algn="l">
              <a:lnSpc>
                <a:spcPts val="2944"/>
              </a:lnSpc>
            </a:pPr>
            <a:endParaRPr dirty="0"/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                         Business Rule Enforced:**</a:t>
            </a:r>
          </a:p>
          <a:p>
            <a:pPr algn="l">
              <a:lnSpc>
                <a:spcPts val="2944"/>
              </a:lnSpc>
            </a:pPr>
            <a:endParaRPr lang="en-US" sz="2103" b="1" spc="23" dirty="0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No INSERT, UPDATE, DELETE on weekdays</a:t>
            </a: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No DML on public holidays</a:t>
            </a: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Only weekends allowed</a:t>
            </a:r>
          </a:p>
          <a:p>
            <a:pPr algn="l">
              <a:lnSpc>
                <a:spcPts val="2944"/>
              </a:lnSpc>
            </a:pPr>
            <a:endParaRPr lang="en-US" sz="2103" b="1" spc="23" dirty="0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Technical Implementation:**</a:t>
            </a:r>
          </a:p>
          <a:p>
            <a:pPr algn="l">
              <a:lnSpc>
                <a:spcPts val="2944"/>
              </a:lnSpc>
            </a:pPr>
            <a:endParaRPr lang="en-US" sz="2103" b="1" spc="23" dirty="0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Triggers for restriction enforcement</a:t>
            </a: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Audit triggers for logging all actions</a:t>
            </a:r>
          </a:p>
          <a:p>
            <a:pPr algn="l">
              <a:lnSpc>
                <a:spcPts val="1566"/>
              </a:lnSpc>
            </a:pPr>
            <a:endParaRPr lang="en-US" sz="2103" b="1" spc="23" dirty="0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Audit Features:</a:t>
            </a: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User tracking</a:t>
            </a: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Action type</a:t>
            </a: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Timestamp</a:t>
            </a: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Status (ALLOWED / DENIED)</a:t>
            </a: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Outcome:</a:t>
            </a:r>
          </a:p>
          <a:p>
            <a:pPr algn="l">
              <a:lnSpc>
                <a:spcPts val="2944"/>
              </a:lnSpc>
            </a:pPr>
            <a:r>
              <a:rPr lang="en-US" sz="2103" b="1" spc="23" dirty="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Strong compliance and full traceability.</a:t>
            </a:r>
          </a:p>
          <a:p>
            <a:pPr algn="l">
              <a:lnSpc>
                <a:spcPts val="2944"/>
              </a:lnSpc>
            </a:pPr>
            <a:endParaRPr lang="en-US" sz="2103" b="1" spc="23" dirty="0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  <a:p>
            <a:pPr algn="l">
              <a:lnSpc>
                <a:spcPts val="2944"/>
              </a:lnSpc>
            </a:pPr>
            <a:endParaRPr lang="en-US" sz="2103" b="1" spc="23" dirty="0">
              <a:solidFill>
                <a:srgbClr val="000000"/>
              </a:solidFill>
              <a:latin typeface="Nunito Sans Bold"/>
              <a:ea typeface="Nunito Sans Bold"/>
              <a:cs typeface="Nunito Sans Bold"/>
              <a:sym typeface="Nunito Sans Bold"/>
            </a:endParaRPr>
          </a:p>
        </p:txBody>
      </p:sp>
      <p:sp>
        <p:nvSpPr>
          <p:cNvPr id="4" name="Freeform 4"/>
          <p:cNvSpPr/>
          <p:nvPr/>
        </p:nvSpPr>
        <p:spPr>
          <a:xfrm rot="-1199172">
            <a:off x="15593387" y="-288619"/>
            <a:ext cx="3852949" cy="4114800"/>
          </a:xfrm>
          <a:custGeom>
            <a:avLst/>
            <a:gdLst/>
            <a:ahLst/>
            <a:cxnLst/>
            <a:rect l="l" t="t" r="r" b="b"/>
            <a:pathLst>
              <a:path w="3852949" h="4114800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89357" y="5143500"/>
            <a:ext cx="8638215" cy="5418517"/>
          </a:xfrm>
          <a:custGeom>
            <a:avLst/>
            <a:gdLst/>
            <a:ahLst/>
            <a:cxnLst/>
            <a:rect l="l" t="t" r="r" b="b"/>
            <a:pathLst>
              <a:path w="8638215" h="5418517">
                <a:moveTo>
                  <a:pt x="0" y="0"/>
                </a:moveTo>
                <a:lnTo>
                  <a:pt x="8638215" y="0"/>
                </a:lnTo>
                <a:lnTo>
                  <a:pt x="8638215" y="5418517"/>
                </a:lnTo>
                <a:lnTo>
                  <a:pt x="0" y="5418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822410" y="5892152"/>
            <a:ext cx="8612708" cy="5966257"/>
          </a:xfrm>
          <a:custGeom>
            <a:avLst/>
            <a:gdLst/>
            <a:ahLst/>
            <a:cxnLst/>
            <a:rect l="l" t="t" r="r" b="b"/>
            <a:pathLst>
              <a:path w="8612708" h="5966257">
                <a:moveTo>
                  <a:pt x="0" y="0"/>
                </a:moveTo>
                <a:lnTo>
                  <a:pt x="8612708" y="0"/>
                </a:lnTo>
                <a:lnTo>
                  <a:pt x="8612708" y="5966258"/>
                </a:lnTo>
                <a:lnTo>
                  <a:pt x="0" y="5966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84193" y="-823169"/>
            <a:ext cx="4425786" cy="4136098"/>
          </a:xfrm>
          <a:custGeom>
            <a:avLst/>
            <a:gdLst/>
            <a:ahLst/>
            <a:cxnLst/>
            <a:rect l="l" t="t" r="r" b="b"/>
            <a:pathLst>
              <a:path w="4425786" h="4136098">
                <a:moveTo>
                  <a:pt x="0" y="0"/>
                </a:moveTo>
                <a:lnTo>
                  <a:pt x="4425786" y="0"/>
                </a:lnTo>
                <a:lnTo>
                  <a:pt x="4425786" y="4136097"/>
                </a:lnTo>
                <a:lnTo>
                  <a:pt x="0" y="4136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984954" y="-644051"/>
            <a:ext cx="2355506" cy="2715992"/>
          </a:xfrm>
          <a:custGeom>
            <a:avLst/>
            <a:gdLst/>
            <a:ahLst/>
            <a:cxnLst/>
            <a:rect l="l" t="t" r="r" b="b"/>
            <a:pathLst>
              <a:path w="2355506" h="2715992">
                <a:moveTo>
                  <a:pt x="0" y="0"/>
                </a:moveTo>
                <a:lnTo>
                  <a:pt x="2355506" y="0"/>
                </a:lnTo>
                <a:lnTo>
                  <a:pt x="2355506" y="2715992"/>
                </a:lnTo>
                <a:lnTo>
                  <a:pt x="0" y="2715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1999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159920" y="713945"/>
            <a:ext cx="1177753" cy="1357996"/>
          </a:xfrm>
          <a:custGeom>
            <a:avLst/>
            <a:gdLst/>
            <a:ahLst/>
            <a:cxnLst/>
            <a:rect l="l" t="t" r="r" b="b"/>
            <a:pathLst>
              <a:path w="1177753" h="1357996">
                <a:moveTo>
                  <a:pt x="0" y="0"/>
                </a:moveTo>
                <a:lnTo>
                  <a:pt x="1177753" y="0"/>
                </a:lnTo>
                <a:lnTo>
                  <a:pt x="1177753" y="1357996"/>
                </a:lnTo>
                <a:lnTo>
                  <a:pt x="0" y="13579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1999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206829" y="7549164"/>
            <a:ext cx="4571693" cy="3845826"/>
          </a:xfrm>
          <a:custGeom>
            <a:avLst/>
            <a:gdLst/>
            <a:ahLst/>
            <a:cxnLst/>
            <a:rect l="l" t="t" r="r" b="b"/>
            <a:pathLst>
              <a:path w="4571693" h="3845826">
                <a:moveTo>
                  <a:pt x="0" y="0"/>
                </a:moveTo>
                <a:lnTo>
                  <a:pt x="4571693" y="0"/>
                </a:lnTo>
                <a:lnTo>
                  <a:pt x="4571693" y="3845826"/>
                </a:lnTo>
                <a:lnTo>
                  <a:pt x="0" y="38458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1999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346884"/>
            <a:ext cx="6545941" cy="172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5888"/>
                </a:solidFill>
                <a:latin typeface="Fredoka"/>
                <a:ea typeface="Fredoka"/>
                <a:cs typeface="Fredoka"/>
                <a:sym typeface="Fredoka"/>
              </a:rPr>
              <a:t>Business Intelligence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90298" y="2639707"/>
            <a:ext cx="12123441" cy="1298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      Consumption trends per sector</a:t>
            </a: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Meter performance analysis</a:t>
            </a:r>
          </a:p>
          <a:p>
            <a:pPr algn="l">
              <a:lnSpc>
                <a:spcPts val="3486"/>
              </a:lnSpc>
            </a:pPr>
            <a:r>
              <a:rPr lang="en-US" sz="2490" b="1" spc="27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* Audit compliance dashboards</a:t>
            </a:r>
          </a:p>
        </p:txBody>
      </p:sp>
      <p:sp>
        <p:nvSpPr>
          <p:cNvPr id="4" name="Freeform 4"/>
          <p:cNvSpPr/>
          <p:nvPr/>
        </p:nvSpPr>
        <p:spPr>
          <a:xfrm rot="-1199172">
            <a:off x="15593387" y="-288619"/>
            <a:ext cx="3852949" cy="4114800"/>
          </a:xfrm>
          <a:custGeom>
            <a:avLst/>
            <a:gdLst/>
            <a:ahLst/>
            <a:cxnLst/>
            <a:rect l="l" t="t" r="r" b="b"/>
            <a:pathLst>
              <a:path w="3852949" h="4114800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822410" y="5892152"/>
            <a:ext cx="8612708" cy="5966257"/>
          </a:xfrm>
          <a:custGeom>
            <a:avLst/>
            <a:gdLst/>
            <a:ahLst/>
            <a:cxnLst/>
            <a:rect l="l" t="t" r="r" b="b"/>
            <a:pathLst>
              <a:path w="8612708" h="5966257">
                <a:moveTo>
                  <a:pt x="0" y="0"/>
                </a:moveTo>
                <a:lnTo>
                  <a:pt x="8612708" y="0"/>
                </a:lnTo>
                <a:lnTo>
                  <a:pt x="8612708" y="5966258"/>
                </a:lnTo>
                <a:lnTo>
                  <a:pt x="0" y="5966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184193" y="-823169"/>
            <a:ext cx="4425786" cy="4136098"/>
          </a:xfrm>
          <a:custGeom>
            <a:avLst/>
            <a:gdLst/>
            <a:ahLst/>
            <a:cxnLst/>
            <a:rect l="l" t="t" r="r" b="b"/>
            <a:pathLst>
              <a:path w="4425786" h="4136098">
                <a:moveTo>
                  <a:pt x="0" y="0"/>
                </a:moveTo>
                <a:lnTo>
                  <a:pt x="4425786" y="0"/>
                </a:lnTo>
                <a:lnTo>
                  <a:pt x="4425786" y="4136097"/>
                </a:lnTo>
                <a:lnTo>
                  <a:pt x="0" y="4136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984954" y="-644051"/>
            <a:ext cx="2355506" cy="2715992"/>
          </a:xfrm>
          <a:custGeom>
            <a:avLst/>
            <a:gdLst/>
            <a:ahLst/>
            <a:cxnLst/>
            <a:rect l="l" t="t" r="r" b="b"/>
            <a:pathLst>
              <a:path w="2355506" h="2715992">
                <a:moveTo>
                  <a:pt x="0" y="0"/>
                </a:moveTo>
                <a:lnTo>
                  <a:pt x="2355506" y="0"/>
                </a:lnTo>
                <a:lnTo>
                  <a:pt x="2355506" y="2715992"/>
                </a:lnTo>
                <a:lnTo>
                  <a:pt x="0" y="27159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159920" y="713945"/>
            <a:ext cx="1177753" cy="1357996"/>
          </a:xfrm>
          <a:custGeom>
            <a:avLst/>
            <a:gdLst/>
            <a:ahLst/>
            <a:cxnLst/>
            <a:rect l="l" t="t" r="r" b="b"/>
            <a:pathLst>
              <a:path w="1177753" h="1357996">
                <a:moveTo>
                  <a:pt x="0" y="0"/>
                </a:moveTo>
                <a:lnTo>
                  <a:pt x="1177753" y="0"/>
                </a:lnTo>
                <a:lnTo>
                  <a:pt x="1177753" y="1357996"/>
                </a:lnTo>
                <a:lnTo>
                  <a:pt x="0" y="1357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790298" y="4537404"/>
            <a:ext cx="10666517" cy="199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6"/>
              </a:lnSpc>
            </a:pPr>
            <a:r>
              <a:rPr lang="en-US" sz="2890" b="1" spc="31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    Decision Support:</a:t>
            </a:r>
          </a:p>
          <a:p>
            <a:pPr marL="624041" lvl="1" indent="-312021" algn="l">
              <a:lnSpc>
                <a:spcPts val="4046"/>
              </a:lnSpc>
              <a:buFont typeface="Arial"/>
              <a:buChar char="•"/>
            </a:pPr>
            <a:r>
              <a:rPr lang="en-US" sz="2890" b="1" spc="31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Leak detection</a:t>
            </a:r>
          </a:p>
          <a:p>
            <a:pPr marL="624041" lvl="1" indent="-312021" algn="l">
              <a:lnSpc>
                <a:spcPts val="4046"/>
              </a:lnSpc>
              <a:buFont typeface="Arial"/>
              <a:buChar char="•"/>
            </a:pPr>
            <a:r>
              <a:rPr lang="en-US" sz="2890" b="1" spc="31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Resource planning</a:t>
            </a:r>
          </a:p>
          <a:p>
            <a:pPr marL="624041" lvl="1" indent="-312021" algn="l">
              <a:lnSpc>
                <a:spcPts val="4046"/>
              </a:lnSpc>
              <a:buFont typeface="Arial"/>
              <a:buChar char="•"/>
            </a:pPr>
            <a:r>
              <a:rPr lang="en-US" sz="2890" b="1" spc="31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Policy evaluation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54287" y="3339852"/>
            <a:ext cx="7166773" cy="6382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233"/>
            <a:ext cx="17891676" cy="1000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04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62707" y="335459"/>
            <a:ext cx="10028282" cy="1433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9"/>
              </a:lnSpc>
            </a:pPr>
            <a:r>
              <a:rPr lang="en-US" sz="5700">
                <a:solidFill>
                  <a:srgbClr val="095888"/>
                </a:solidFill>
                <a:latin typeface="Fredoka"/>
                <a:ea typeface="Fredoka"/>
                <a:cs typeface="Fredoka"/>
                <a:sym typeface="Fredoka"/>
              </a:rPr>
              <a:t>Conclusion &amp; Key Achievements</a:t>
            </a:r>
          </a:p>
        </p:txBody>
      </p:sp>
      <p:sp>
        <p:nvSpPr>
          <p:cNvPr id="3" name="Freeform 3"/>
          <p:cNvSpPr/>
          <p:nvPr/>
        </p:nvSpPr>
        <p:spPr>
          <a:xfrm rot="-1199172">
            <a:off x="15593387" y="-288619"/>
            <a:ext cx="3852949" cy="4114800"/>
          </a:xfrm>
          <a:custGeom>
            <a:avLst/>
            <a:gdLst/>
            <a:ahLst/>
            <a:cxnLst/>
            <a:rect l="l" t="t" r="r" b="b"/>
            <a:pathLst>
              <a:path w="3852949" h="4114800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89357" y="5143500"/>
            <a:ext cx="8638215" cy="5418517"/>
          </a:xfrm>
          <a:custGeom>
            <a:avLst/>
            <a:gdLst/>
            <a:ahLst/>
            <a:cxnLst/>
            <a:rect l="l" t="t" r="r" b="b"/>
            <a:pathLst>
              <a:path w="8638215" h="5418517">
                <a:moveTo>
                  <a:pt x="0" y="0"/>
                </a:moveTo>
                <a:lnTo>
                  <a:pt x="8638215" y="0"/>
                </a:lnTo>
                <a:lnTo>
                  <a:pt x="8638215" y="5418517"/>
                </a:lnTo>
                <a:lnTo>
                  <a:pt x="0" y="5418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822410" y="5892152"/>
            <a:ext cx="8612708" cy="5966257"/>
          </a:xfrm>
          <a:custGeom>
            <a:avLst/>
            <a:gdLst/>
            <a:ahLst/>
            <a:cxnLst/>
            <a:rect l="l" t="t" r="r" b="b"/>
            <a:pathLst>
              <a:path w="8612708" h="5966257">
                <a:moveTo>
                  <a:pt x="0" y="0"/>
                </a:moveTo>
                <a:lnTo>
                  <a:pt x="8612708" y="0"/>
                </a:lnTo>
                <a:lnTo>
                  <a:pt x="8612708" y="5966258"/>
                </a:lnTo>
                <a:lnTo>
                  <a:pt x="0" y="5966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184193" y="-823169"/>
            <a:ext cx="4425786" cy="4136098"/>
          </a:xfrm>
          <a:custGeom>
            <a:avLst/>
            <a:gdLst/>
            <a:ahLst/>
            <a:cxnLst/>
            <a:rect l="l" t="t" r="r" b="b"/>
            <a:pathLst>
              <a:path w="4425786" h="4136098">
                <a:moveTo>
                  <a:pt x="0" y="0"/>
                </a:moveTo>
                <a:lnTo>
                  <a:pt x="4425786" y="0"/>
                </a:lnTo>
                <a:lnTo>
                  <a:pt x="4425786" y="4136097"/>
                </a:lnTo>
                <a:lnTo>
                  <a:pt x="0" y="4136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984954" y="-644051"/>
            <a:ext cx="2355506" cy="2715992"/>
          </a:xfrm>
          <a:custGeom>
            <a:avLst/>
            <a:gdLst/>
            <a:ahLst/>
            <a:cxnLst/>
            <a:rect l="l" t="t" r="r" b="b"/>
            <a:pathLst>
              <a:path w="2355506" h="2715992">
                <a:moveTo>
                  <a:pt x="0" y="0"/>
                </a:moveTo>
                <a:lnTo>
                  <a:pt x="2355506" y="0"/>
                </a:lnTo>
                <a:lnTo>
                  <a:pt x="2355506" y="2715992"/>
                </a:lnTo>
                <a:lnTo>
                  <a:pt x="0" y="2715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1999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159920" y="713945"/>
            <a:ext cx="1177753" cy="1357996"/>
          </a:xfrm>
          <a:custGeom>
            <a:avLst/>
            <a:gdLst/>
            <a:ahLst/>
            <a:cxnLst/>
            <a:rect l="l" t="t" r="r" b="b"/>
            <a:pathLst>
              <a:path w="1177753" h="1357996">
                <a:moveTo>
                  <a:pt x="0" y="0"/>
                </a:moveTo>
                <a:lnTo>
                  <a:pt x="1177753" y="0"/>
                </a:lnTo>
                <a:lnTo>
                  <a:pt x="1177753" y="1357996"/>
                </a:lnTo>
                <a:lnTo>
                  <a:pt x="0" y="13579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1999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206829" y="7549164"/>
            <a:ext cx="4571693" cy="3845826"/>
          </a:xfrm>
          <a:custGeom>
            <a:avLst/>
            <a:gdLst/>
            <a:ahLst/>
            <a:cxnLst/>
            <a:rect l="l" t="t" r="r" b="b"/>
            <a:pathLst>
              <a:path w="4571693" h="3845826">
                <a:moveTo>
                  <a:pt x="0" y="0"/>
                </a:moveTo>
                <a:lnTo>
                  <a:pt x="4571693" y="0"/>
                </a:lnTo>
                <a:lnTo>
                  <a:pt x="4571693" y="3845826"/>
                </a:lnTo>
                <a:lnTo>
                  <a:pt x="0" y="38458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1999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340460" y="1721156"/>
            <a:ext cx="7037338" cy="350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sz="2885" spc="31">
                <a:solidFill>
                  <a:srgbClr val="095888"/>
                </a:solidFill>
                <a:latin typeface="Nunito Sans"/>
                <a:ea typeface="Nunito Sans"/>
                <a:cs typeface="Nunito Sans"/>
                <a:sym typeface="Nunito Sans"/>
              </a:rPr>
              <a:t>**Project Achievements:**</a:t>
            </a:r>
          </a:p>
          <a:p>
            <a:pPr algn="ctr">
              <a:lnSpc>
                <a:spcPts val="4039"/>
              </a:lnSpc>
              <a:spcBef>
                <a:spcPct val="0"/>
              </a:spcBef>
            </a:pPr>
            <a:endParaRPr lang="en-US" sz="2885" spc="31">
              <a:solidFill>
                <a:srgbClr val="095888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sz="2885" spc="31">
                <a:solidFill>
                  <a:srgbClr val="095888"/>
                </a:solidFill>
                <a:latin typeface="Nunito Sans"/>
                <a:ea typeface="Nunito Sans"/>
                <a:cs typeface="Nunito Sans"/>
                <a:sym typeface="Nunito Sans"/>
              </a:rPr>
              <a:t>* Fully functional PL/SQL-based system</a:t>
            </a:r>
          </a:p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sz="2885" spc="31">
                <a:solidFill>
                  <a:srgbClr val="095888"/>
                </a:solidFill>
                <a:latin typeface="Nunito Sans"/>
                <a:ea typeface="Nunito Sans"/>
                <a:cs typeface="Nunito Sans"/>
                <a:sym typeface="Nunito Sans"/>
              </a:rPr>
              <a:t>* Enforced real-world business rules</a:t>
            </a:r>
          </a:p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sz="2885" spc="31">
                <a:solidFill>
                  <a:srgbClr val="095888"/>
                </a:solidFill>
                <a:latin typeface="Nunito Sans"/>
                <a:ea typeface="Nunito Sans"/>
                <a:cs typeface="Nunito Sans"/>
                <a:sym typeface="Nunito Sans"/>
              </a:rPr>
              <a:t>* Auditable and secure database design</a:t>
            </a:r>
          </a:p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sz="2885" spc="31">
                <a:solidFill>
                  <a:srgbClr val="095888"/>
                </a:solidFill>
                <a:latin typeface="Nunito Sans"/>
                <a:ea typeface="Nunito Sans"/>
                <a:cs typeface="Nunito Sans"/>
                <a:sym typeface="Nunito Sans"/>
              </a:rPr>
              <a:t>* BI-ready data model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5695" y="5620998"/>
            <a:ext cx="16222305" cy="1488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sz="2885" spc="31">
                <a:solidFill>
                  <a:srgbClr val="095888"/>
                </a:solidFill>
                <a:latin typeface="Nunito Sans"/>
                <a:ea typeface="Nunito Sans"/>
                <a:cs typeface="Nunito Sans"/>
                <a:sym typeface="Nunito Sans"/>
              </a:rPr>
              <a:t>**Final Statement:**</a:t>
            </a:r>
          </a:p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sz="2885" spc="31">
                <a:solidFill>
                  <a:srgbClr val="095888"/>
                </a:solidFill>
                <a:latin typeface="Nunito Sans"/>
                <a:ea typeface="Nunito Sans"/>
                <a:cs typeface="Nunito Sans"/>
                <a:sym typeface="Nunito Sans"/>
              </a:rPr>
              <a:t>This project demonstrates practical application of database development principles in solving real-world water management challenges.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2607" y="3061837"/>
            <a:ext cx="11482787" cy="455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095888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1593600" y="4568903"/>
            <a:ext cx="11331400" cy="7849570"/>
          </a:xfrm>
          <a:custGeom>
            <a:avLst/>
            <a:gdLst/>
            <a:ahLst/>
            <a:cxnLst/>
            <a:rect l="l" t="t" r="r" b="b"/>
            <a:pathLst>
              <a:path w="11331400" h="7849570">
                <a:moveTo>
                  <a:pt x="11331400" y="0"/>
                </a:moveTo>
                <a:lnTo>
                  <a:pt x="0" y="0"/>
                </a:lnTo>
                <a:lnTo>
                  <a:pt x="0" y="7849571"/>
                </a:lnTo>
                <a:lnTo>
                  <a:pt x="11331400" y="7849571"/>
                </a:lnTo>
                <a:lnTo>
                  <a:pt x="11331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346158" y="4072689"/>
            <a:ext cx="11094013" cy="6958972"/>
          </a:xfrm>
          <a:custGeom>
            <a:avLst/>
            <a:gdLst/>
            <a:ahLst/>
            <a:cxnLst/>
            <a:rect l="l" t="t" r="r" b="b"/>
            <a:pathLst>
              <a:path w="11094013" h="6958972">
                <a:moveTo>
                  <a:pt x="0" y="0"/>
                </a:moveTo>
                <a:lnTo>
                  <a:pt x="11094014" y="0"/>
                </a:lnTo>
                <a:lnTo>
                  <a:pt x="11094014" y="6958973"/>
                </a:lnTo>
                <a:lnTo>
                  <a:pt x="0" y="6958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58699" y="-42111"/>
            <a:ext cx="4794788" cy="4114800"/>
          </a:xfrm>
          <a:custGeom>
            <a:avLst/>
            <a:gdLst/>
            <a:ahLst/>
            <a:cxnLst/>
            <a:rect l="l" t="t" r="r" b="b"/>
            <a:pathLst>
              <a:path w="4794788" h="4114800">
                <a:moveTo>
                  <a:pt x="0" y="0"/>
                </a:moveTo>
                <a:lnTo>
                  <a:pt x="4794788" y="0"/>
                </a:lnTo>
                <a:lnTo>
                  <a:pt x="47947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26920" y="-262689"/>
            <a:ext cx="4794788" cy="4114800"/>
          </a:xfrm>
          <a:custGeom>
            <a:avLst/>
            <a:gdLst/>
            <a:ahLst/>
            <a:cxnLst/>
            <a:rect l="l" t="t" r="r" b="b"/>
            <a:pathLst>
              <a:path w="4794788" h="4114800">
                <a:moveTo>
                  <a:pt x="0" y="0"/>
                </a:moveTo>
                <a:lnTo>
                  <a:pt x="4794788" y="0"/>
                </a:lnTo>
                <a:lnTo>
                  <a:pt x="47947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516</Words>
  <Application>Microsoft Office PowerPoint</Application>
  <PresentationFormat>Custom</PresentationFormat>
  <Paragraphs>129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Fredoka</vt:lpstr>
      <vt:lpstr>Calibri</vt:lpstr>
      <vt:lpstr>Nunito Sans</vt:lpstr>
      <vt:lpstr>Nunito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Ilustrative Water Energy Group Project Presentation</dc:title>
  <cp:lastModifiedBy>Enock humure</cp:lastModifiedBy>
  <cp:revision>3</cp:revision>
  <dcterms:created xsi:type="dcterms:W3CDTF">2006-08-16T00:00:00Z</dcterms:created>
  <dcterms:modified xsi:type="dcterms:W3CDTF">2025-12-20T22:56:29Z</dcterms:modified>
  <dc:identifier>DAG8FRN2CFU</dc:identifier>
</cp:coreProperties>
</file>